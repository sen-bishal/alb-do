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4F5F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6B5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Today's stack</c:v>
                  </c:pt>
                  <c:pt idx="1">
                    <c:v>On AlB’DO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F4F5FA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C3C7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8"/>
        </a:solidFill>
        <a:ln>
          <a:noFill/>
        </a:ln>
        <a:effectLst/>
      </c:spPr>
    </c:plotArea>
    <c:plotVisOnly val="1"/>
    <c:dispBlanksAs val="span"/>
  </c:chart>
  <c:spPr>
    <a:solidFill>
      <a:srgbClr val="0E10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42432" y="-749808"/>
            <a:ext cx="8083296" cy="808329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182880"/>
            <a:ext cx="6217920" cy="62179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52360" y="960120"/>
            <a:ext cx="4663440" cy="46634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3062" y="1550822"/>
            <a:ext cx="3482035" cy="3482035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71586" y="2079346"/>
            <a:ext cx="2424989" cy="2424989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6840" y="2514600"/>
            <a:ext cx="1554480" cy="15544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074920"/>
            <a:ext cx="12191695" cy="0"/>
          </a:xfrm>
          <a:prstGeom prst="line">
            <a:avLst/>
          </a:prstGeom>
          <a:noFill/>
          <a:ln w="12700">
            <a:solidFill>
              <a:srgbClr val="2A2F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RUST-NATIVE REACT RUNTIME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3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3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React you already know.  Ship almost no JavaScript.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008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that proves which parts of your app are alive — and ships only those. The rest arrives as finished light.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 BRIEF · 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65215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albedo — the fraction of light a surface reflects /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 learned to ship the </a:t>
            </a:r>
            <a:pPr indent="0" marL="0">
              <a:lnSpc>
                <a:spcPts val="3780"/>
              </a:lnSpc>
              <a:buNone/>
            </a:pPr>
            <a:r>
              <a:rPr lang="en-US" sz="36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pPr indent="0" marL="0">
              <a:lnSpc>
                <a:spcPts val="3780"/>
              </a:lnSpc>
              <a:buNone/>
            </a:pPr>
            <a:endParaRPr lang="en-US" sz="3600" dirty="0"/>
          </a:p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the car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modern React/Next app builds your UI twice — once as HTML on the server, then again as a megabyte of JavaScript that re-runs in the browser to “hydrate” what was already drawn. Users pay for it in seconds; companies pay for it in cloud bills.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456432" cy="224028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703320"/>
            <a:ext cx="3456432" cy="64008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995928"/>
            <a:ext cx="566928" cy="566928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471" y="4148999"/>
            <a:ext cx="260787" cy="2607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3600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14400" y="527608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shipped JavaScript is framework &amp; component code the visible page never needed.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89120" y="3703320"/>
            <a:ext cx="3456432" cy="224028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89120" y="3703320"/>
            <a:ext cx="3456432" cy="64008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19" name="Shape 16"/>
          <p:cNvSpPr/>
          <p:nvPr/>
        </p:nvSpPr>
        <p:spPr>
          <a:xfrm>
            <a:off x="4663440" y="3995928"/>
            <a:ext cx="566928" cy="566928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511" y="4148999"/>
            <a:ext cx="260787" cy="26078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63440" y="463600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2–6s</a:t>
            </a:r>
            <a:endParaRPr lang="en-US" sz="3400" dirty="0"/>
          </a:p>
        </p:txBody>
      </p:sp>
      <p:sp>
        <p:nvSpPr>
          <p:cNvPr id="22" name="Text 18"/>
          <p:cNvSpPr/>
          <p:nvPr/>
        </p:nvSpPr>
        <p:spPr>
          <a:xfrm>
            <a:off x="4663440" y="527608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interactive on real mobile devices — hydration blocks the main thread, frame by frame.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138160" y="3703320"/>
            <a:ext cx="3456432" cy="224028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38160" y="3703320"/>
            <a:ext cx="3456432" cy="64008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25" name="Shape 21"/>
          <p:cNvSpPr/>
          <p:nvPr/>
        </p:nvSpPr>
        <p:spPr>
          <a:xfrm>
            <a:off x="8412480" y="3995928"/>
            <a:ext cx="566928" cy="566928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551" y="4148999"/>
            <a:ext cx="260787" cy="26078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12480" y="463600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+1% lost</a:t>
            </a:r>
            <a:endParaRPr lang="en-US" sz="3400" dirty="0"/>
          </a:p>
        </p:txBody>
      </p:sp>
      <p:sp>
        <p:nvSpPr>
          <p:cNvPr id="28" name="Text 23"/>
          <p:cNvSpPr/>
          <p:nvPr/>
        </p:nvSpPr>
        <p:spPr>
          <a:xfrm>
            <a:off x="8412480" y="527608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conversion for every 100ms of added latency. Slowness is a line item.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7452360" y="2011680"/>
            <a:ext cx="4099255" cy="1417320"/>
          </a:xfrm>
          <a:prstGeom prst="rect">
            <a:avLst/>
          </a:prstGeom>
          <a:solidFill>
            <a:srgbClr val="0E1018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7266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Paying twice for one page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7726680" y="2660904"/>
            <a:ext cx="109728" cy="109728"/>
          </a:xfrm>
          <a:prstGeom prst="ellipse">
            <a:avLst/>
          </a:prstGeom>
          <a:solidFill>
            <a:srgbClr val="868CA3"/>
          </a:solidFill>
          <a:ln/>
        </p:spPr>
      </p:sp>
      <p:sp>
        <p:nvSpPr>
          <p:cNvPr id="32" name="Text 27"/>
          <p:cNvSpPr/>
          <p:nvPr/>
        </p:nvSpPr>
        <p:spPr>
          <a:xfrm>
            <a:off x="7955280" y="2587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on server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726680" y="2843784"/>
            <a:ext cx="109728" cy="109728"/>
          </a:xfrm>
          <a:prstGeom prst="ellipse">
            <a:avLst/>
          </a:prstGeom>
          <a:solidFill>
            <a:srgbClr val="868CA3"/>
          </a:solidFill>
          <a:ln/>
        </p:spPr>
      </p:sp>
      <p:sp>
        <p:nvSpPr>
          <p:cNvPr id="34" name="Text 29"/>
          <p:cNvSpPr/>
          <p:nvPr/>
        </p:nvSpPr>
        <p:spPr>
          <a:xfrm>
            <a:off x="7955280" y="2770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HTML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726680" y="30266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6" name="Text 31"/>
          <p:cNvSpPr/>
          <p:nvPr/>
        </p:nvSpPr>
        <p:spPr>
          <a:xfrm>
            <a:off x="7955280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Re-send the whole framework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726680" y="320954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8" name="Text 33"/>
          <p:cNvSpPr/>
          <p:nvPr/>
        </p:nvSpPr>
        <p:spPr>
          <a:xfrm>
            <a:off x="795528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it to “hydrate”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ships the </a:t>
            </a:r>
            <a:pPr indent="0" marL="0">
              <a:lnSpc>
                <a:spcPts val="3780"/>
              </a:lnSpc>
              <a:buNone/>
            </a:pPr>
            <a:r>
              <a:rPr lang="en-US" sz="36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</a:t>
            </a:r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never the engine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Rust-native compiler reads your React and proves, component by component, what is truly static, what is data-bound, and what is genuinely interactive. Static and data-bound parts ship as finished HTML. Only real interactivity ships code — surgically.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511296" cy="169164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108960"/>
            <a:ext cx="548640" cy="54864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3257093"/>
            <a:ext cx="252374" cy="2523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314553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code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37947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in ordinary React/TSX. No new mental model, no annotations, no rewrite.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25696" y="2834640"/>
            <a:ext cx="3511296" cy="169164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3108960"/>
            <a:ext cx="548640" cy="54864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149" y="3257093"/>
            <a:ext cx="252374" cy="2523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85816" y="314553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Provably correct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700016" y="37947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can’t prove the cheaper path is safe, it falls back. A broken UI is impossible.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211312" y="2834640"/>
            <a:ext cx="3511296" cy="169164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85632" y="3108960"/>
            <a:ext cx="548640" cy="54864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3257093"/>
            <a:ext cx="252374" cy="25237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71432" y="314553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fraction of the weight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485632" y="37947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pages reach interactive with kilobytes — or zero — of client JavaScript.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008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 TO INTERACTIVE — TYPICAL CONTENT PAGE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0080" y="5303520"/>
            <a:ext cx="10881360" cy="384048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8" name="Shape 23"/>
          <p:cNvSpPr/>
          <p:nvPr/>
        </p:nvSpPr>
        <p:spPr>
          <a:xfrm>
            <a:off x="640080" y="5303520"/>
            <a:ext cx="10881360" cy="384048"/>
          </a:xfrm>
          <a:prstGeom prst="rect">
            <a:avLst/>
          </a:prstGeom>
          <a:solidFill>
            <a:srgbClr val="FF6B6B">
              <a:alpha val="70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777240" y="53035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React/Next  ·  ~480 KB JS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40080" y="5788152"/>
            <a:ext cx="10881360" cy="384048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31" name="Shape 26"/>
          <p:cNvSpPr/>
          <p:nvPr/>
        </p:nvSpPr>
        <p:spPr>
          <a:xfrm>
            <a:off x="640080" y="5788152"/>
            <a:ext cx="489661" cy="384048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2" name="Text 27"/>
          <p:cNvSpPr/>
          <p:nvPr/>
        </p:nvSpPr>
        <p:spPr>
          <a:xfrm>
            <a:off x="1312621" y="57881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AlB’DO</a:t>
            </a:r>
            <a:pPr indent="0" marL="0">
              <a:buNone/>
            </a:pPr>
            <a:r>
              <a:rPr lang="en-US" sz="1200" b="1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~0–18 KB JS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FEATURE ·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 </a:t>
            </a:r>
            <a:pPr indent="0" marL="0">
              <a:lnSpc>
                <a:spcPts val="3990"/>
              </a:lnSpc>
              <a:buNone/>
            </a:pPr>
            <a:r>
              <a:rPr lang="en-US" sz="38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construction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heart of AlB’DO is a soundness lattice — a static dataflow analysis that, for every component, computes the complete set of provably-correct ways to ship it. The framework only ever chooses from inside that set.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6492240" cy="1078992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26080"/>
            <a:ext cx="82296" cy="1078992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" y="3200400"/>
            <a:ext cx="530352" cy="530352"/>
          </a:xfrm>
          <a:prstGeom prst="ellipse">
            <a:avLst/>
          </a:prstGeom>
          <a:solidFill>
            <a:srgbClr val="0E1018"/>
          </a:solidFill>
          <a:ln w="19050">
            <a:solidFill>
              <a:srgbClr val="F6B5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00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64208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A — Pure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64208" y="345643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static. Renders to plain HTML. Zero client code, forever.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51376"/>
            <a:ext cx="6492240" cy="1078992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151376"/>
            <a:ext cx="82296" cy="1078992"/>
          </a:xfrm>
          <a:prstGeom prst="rect">
            <a:avLst/>
          </a:prstGeom>
          <a:solidFill>
            <a:srgbClr val="5FE3CE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" y="4425696"/>
            <a:ext cx="530352" cy="530352"/>
          </a:xfrm>
          <a:prstGeom prst="ellipse">
            <a:avLst/>
          </a:prstGeom>
          <a:solidFill>
            <a:srgbClr val="0E1018"/>
          </a:solidFill>
          <a:ln w="19050">
            <a:solidFill>
              <a:srgbClr val="5FE3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4256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64208" y="43342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B — Bound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64208" y="468172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&amp; data-bound. Updates by surgical patch, not by re-running the app.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76672"/>
            <a:ext cx="6492240" cy="1078992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376672"/>
            <a:ext cx="82296" cy="1078992"/>
          </a:xfrm>
          <a:prstGeom prst="rect">
            <a:avLst/>
          </a:prstGeom>
          <a:solidFill>
            <a:srgbClr val="FFD06B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" y="5650992"/>
            <a:ext cx="530352" cy="530352"/>
          </a:xfrm>
          <a:prstGeom prst="ellipse">
            <a:avLst/>
          </a:prstGeom>
          <a:solidFill>
            <a:srgbClr val="0E1018"/>
          </a:solidFill>
          <a:ln w="19050">
            <a:solidFill>
              <a:srgbClr val="FFD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650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64208" y="55595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C — Live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64208" y="590702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interactive. Gets a real runtime — and only this tier does.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52360" y="2926080"/>
            <a:ext cx="4099255" cy="3529584"/>
          </a:xfrm>
          <a:prstGeom prst="rect">
            <a:avLst/>
          </a:prstGeom>
          <a:solidFill>
            <a:srgbClr val="0E1018"/>
          </a:solidFill>
          <a:ln w="12700">
            <a:solidFill>
              <a:srgbClr val="F6B5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18120" y="3291840"/>
            <a:ext cx="640080" cy="64008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0942" y="3464662"/>
            <a:ext cx="294437" cy="294437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818120" y="4069080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line we never cross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7818120" y="4617720"/>
            <a:ext cx="3367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model may rank options. It may never invent one. The analysis is inviolable — so the worst a wrong choice can cost is a few milliseconds, never a broken app.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7818120" y="5715000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E3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SILENT-WRONG IS IMPOSSIBLE.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FEATURE ·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engine built for </a:t>
            </a:r>
            <a:pPr indent="0" marL="0">
              <a:lnSpc>
                <a:spcPts val="3990"/>
              </a:lnSpc>
              <a:buNone/>
            </a:pPr>
            <a:r>
              <a:rPr lang="en-US" sz="38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decade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the elegance is a Rust core engineered to disappear: a per-request arena allocator with no garbage collector, embedded QuickJS for server rendering, and a near-zero client runtime. It is the fastest path from request to pixels.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2615184" cy="16002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026664"/>
            <a:ext cx="493776" cy="493776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432" y="3159984"/>
            <a:ext cx="227137" cy="22713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357530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0–18 KB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96112" y="408736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JS on a typical page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511296" y="2788920"/>
            <a:ext cx="2615184" cy="16002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67328" y="3026664"/>
            <a:ext cx="493776" cy="493776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648" y="3159984"/>
            <a:ext cx="227137" cy="22713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67328" y="357530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 ms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3767328" y="408736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first render, warm pool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382512" y="2788920"/>
            <a:ext cx="2615184" cy="16002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38544" y="3026664"/>
            <a:ext cx="493776" cy="493776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864" y="3159984"/>
            <a:ext cx="227137" cy="22713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38544" y="357530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~0.24 ms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638544" y="408736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 round-trip, p50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253728" y="2788920"/>
            <a:ext cx="2615184" cy="16002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09760" y="3026664"/>
            <a:ext cx="493776" cy="493776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080" y="3159984"/>
            <a:ext cx="227137" cy="22713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09760" y="357530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9509760" y="408736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pauses — arena reset per request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PASS, REQUEST TO PIXELS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0080" y="5138928"/>
            <a:ext cx="1993392" cy="640080"/>
          </a:xfrm>
          <a:prstGeom prst="rect">
            <a:avLst/>
          </a:prstGeom>
          <a:solidFill>
            <a:srgbClr val="1C2030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31520" y="513892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React/TSX</a:t>
            </a:r>
            <a:endParaRPr lang="en-US" sz="115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616" y="5376672"/>
            <a:ext cx="164592" cy="16459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2834640" y="5138928"/>
            <a:ext cx="1993392" cy="640080"/>
          </a:xfrm>
          <a:prstGeom prst="rect">
            <a:avLst/>
          </a:prstGeom>
          <a:solidFill>
            <a:srgbClr val="1C2030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926080" y="513892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analysis</a:t>
            </a:r>
            <a:endParaRPr lang="en-US" sz="115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5376672"/>
            <a:ext cx="164592" cy="16459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029200" y="5138928"/>
            <a:ext cx="1993392" cy="640080"/>
          </a:xfrm>
          <a:prstGeom prst="rect">
            <a:avLst/>
          </a:prstGeom>
          <a:solidFill>
            <a:srgbClr val="1C2030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120640" y="513892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+ bind</a:t>
            </a:r>
            <a:endParaRPr lang="en-US" sz="115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736" y="5376672"/>
            <a:ext cx="164592" cy="164592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223760" y="5138928"/>
            <a:ext cx="1993392" cy="640080"/>
          </a:xfrm>
          <a:prstGeom prst="rect">
            <a:avLst/>
          </a:prstGeom>
          <a:solidFill>
            <a:srgbClr val="1C2030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7315200" y="513892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QuickJS render</a:t>
            </a:r>
            <a:endParaRPr lang="en-US" sz="115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5376672"/>
            <a:ext cx="164592" cy="164592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9418320" y="5138928"/>
            <a:ext cx="1993392" cy="640080"/>
          </a:xfrm>
          <a:prstGeom prst="rect">
            <a:avLst/>
          </a:prstGeom>
          <a:solidFill>
            <a:srgbClr val="1C2030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9509760" y="513892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HTML + surgical JS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· ENTERPRISE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scale, the savings </a:t>
            </a:r>
            <a:pPr indent="0" marL="0">
              <a:lnSpc>
                <a:spcPts val="3780"/>
              </a:lnSpc>
              <a:buNone/>
            </a:pPr>
            <a:r>
              <a:rPr lang="en-US" sz="36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JavaScript on the wire is less compute to render, less egress to bill, fewer servers to run, and faster pages that convert. The same product, on a materially smaller infrastructure footprint.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3154680" cy="141732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" y="3026664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3150108"/>
            <a:ext cx="210312" cy="2103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3040" y="29900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60%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77824" y="36301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render &amp; edge compute spend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69080" y="2788920"/>
            <a:ext cx="3154680" cy="141732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06824" y="3026664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3150108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92040" y="29900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70–95%</a:t>
            </a:r>
            <a:endParaRPr lang="en-US" sz="2300" dirty="0"/>
          </a:p>
        </p:txBody>
      </p:sp>
      <p:sp>
        <p:nvSpPr>
          <p:cNvPr id="20" name="Text 16"/>
          <p:cNvSpPr/>
          <p:nvPr/>
        </p:nvSpPr>
        <p:spPr>
          <a:xfrm>
            <a:off x="4306824" y="36301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client JavaScript egress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4434840"/>
            <a:ext cx="3154680" cy="141732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77824" y="4672584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796028"/>
            <a:ext cx="210312" cy="2103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63040" y="4636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servers</a:t>
            </a:r>
            <a:endParaRPr lang="en-US" sz="2300" dirty="0"/>
          </a:p>
        </p:txBody>
      </p:sp>
      <p:sp>
        <p:nvSpPr>
          <p:cNvPr id="25" name="Text 20"/>
          <p:cNvSpPr/>
          <p:nvPr/>
        </p:nvSpPr>
        <p:spPr>
          <a:xfrm>
            <a:off x="877824" y="5276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reclaimed across the fleet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069080" y="4434840"/>
            <a:ext cx="3154680" cy="141732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306824" y="4672584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4796028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92040" y="4636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carbon</a:t>
            </a:r>
            <a:endParaRPr lang="en-US" sz="2300" dirty="0"/>
          </a:p>
        </p:txBody>
      </p:sp>
      <p:sp>
        <p:nvSpPr>
          <p:cNvPr id="30" name="Text 24"/>
          <p:cNvSpPr/>
          <p:nvPr/>
        </p:nvSpPr>
        <p:spPr>
          <a:xfrm>
            <a:off x="4306824" y="5276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compute is less energy, measurably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543800" y="2788920"/>
            <a:ext cx="4007815" cy="3063240"/>
          </a:xfrm>
          <a:prstGeom prst="rect">
            <a:avLst/>
          </a:prstGeom>
          <a:solidFill>
            <a:srgbClr val="0E1018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818120" y="2990088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FRONT-END CLOUD SPEND (INDEXED)</a:t>
            </a:r>
            <a:endParaRPr lang="en-US" sz="10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7680960" y="3291840"/>
          <a:ext cx="3733495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4" name="Text 27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· INDIE &amp; SOLO BUILDERS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developer. </a:t>
            </a:r>
            <a:pPr indent="0" marL="0">
              <a:lnSpc>
                <a:spcPts val="3570"/>
              </a:lnSpc>
              <a:buNone/>
            </a:pPr>
            <a:r>
              <a:rPr lang="en-US" sz="34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by default</a:t>
            </a:r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7556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work that used to need a platform team is now the framework’s job. You write features; AlB’DO makes them fast. The gap between a side project and a serious product disappears.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881360" cy="786384"/>
          </a:xfrm>
          <a:prstGeom prst="rect">
            <a:avLst/>
          </a:prstGeom>
          <a:solidFill>
            <a:srgbClr val="1C2030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880360"/>
            <a:ext cx="475488" cy="475488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494" y="3008742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282549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write React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54880" y="2825496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 budget rituals, no manual code-splitting, no “use client” archaeology. Ship the feature.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593592"/>
            <a:ext cx="10881360" cy="786384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776472"/>
            <a:ext cx="475488" cy="475488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94" y="3904854"/>
            <a:ext cx="218724" cy="2187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00200" y="372160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 performance, free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754880" y="372160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weekend project loads like a flagship app — because the compiler does the hard part.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0080" y="4489704"/>
            <a:ext cx="10881360" cy="786384"/>
          </a:xfrm>
          <a:prstGeom prst="rect">
            <a:avLst/>
          </a:prstGeom>
          <a:solidFill>
            <a:srgbClr val="1C2030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96112" y="4672584"/>
            <a:ext cx="475488" cy="475488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94" y="4800966"/>
            <a:ext cx="218724" cy="2187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46177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without a rewrite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4754880" y="461772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user to viral spike, the same code holds. No re-architecture tax when you grow.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40080" y="5385816"/>
            <a:ext cx="10881360" cy="786384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96112" y="5568696"/>
            <a:ext cx="475488" cy="475488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94" y="5697078"/>
            <a:ext cx="218724" cy="2187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00200" y="551383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Hosting that stays cheap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4754880" y="5513832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payloads and a lean runtime mean a real product can live on a hobby-tier bill.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MOAT · SELF-LEARNING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framework that </a:t>
            </a:r>
            <a:pPr indent="0" marL="0">
              <a:lnSpc>
                <a:spcPts val="3780"/>
              </a:lnSpc>
              <a:buNone/>
            </a:pPr>
            <a:r>
              <a:rPr lang="en-US" sz="36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learns your fleet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AlB’DO separates correctness from optimization. The static analysis decides what is legal. A learned policy — the same architecture that powers ML-guided compilers — chooses the best legal option, and it gets sharper with every page you ship.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029200" cy="3063240"/>
          </a:xfrm>
          <a:prstGeom prst="rect">
            <a:avLst/>
          </a:prstGeom>
          <a:solidFill>
            <a:srgbClr val="0E1018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108960"/>
            <a:ext cx="4480560" cy="1143000"/>
          </a:xfrm>
          <a:prstGeom prst="rect">
            <a:avLst/>
          </a:prstGeom>
          <a:solidFill>
            <a:srgbClr val="161925"/>
          </a:solidFill>
          <a:ln w="12700">
            <a:solidFill>
              <a:srgbClr val="F6B5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337560"/>
            <a:ext cx="502920" cy="50292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788" y="3473348"/>
            <a:ext cx="231343" cy="2313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28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layer — learned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4300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legal options to minimize wire bytes, client JS &amp; latency. Can be wrong about speed — never about correctness.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4370832"/>
            <a:ext cx="292608" cy="2926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14400" y="4754880"/>
            <a:ext cx="4480560" cy="914400"/>
          </a:xfrm>
          <a:prstGeom prst="rect">
            <a:avLst/>
          </a:prstGeom>
          <a:solidFill>
            <a:srgbClr val="161925"/>
          </a:solidFill>
          <a:ln w="12700">
            <a:solidFill>
              <a:srgbClr val="5FE3C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43000" y="4937760"/>
            <a:ext cx="502920" cy="50292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88" y="5073548"/>
            <a:ext cx="231343" cy="231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9194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Soundness lattice — inviolable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143000" y="5321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proof of every legal tier/binding. The policy may only choose from inside this set.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80760" y="281635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flywheel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080760" y="3291840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204" y="3415284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84264" y="3246120"/>
            <a:ext cx="4867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emits the choices the policy made.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080760" y="3941064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204" y="4064508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84264" y="3895344"/>
            <a:ext cx="4867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render, bytes &amp; latency stream back as signal.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080760" y="4590288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F6B53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204" y="4713732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84264" y="4544568"/>
            <a:ext cx="4867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re-ranks — fleet-wide, across every app.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6080760" y="5239512"/>
            <a:ext cx="457200" cy="45720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5FE3CE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204" y="5362956"/>
            <a:ext cx="210312" cy="2103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684264" y="5193792"/>
            <a:ext cx="4867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Tomorrow’s build is faster than today’s. Automatically.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6080760" y="5934456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FD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 AlB’DO accrues — better perf per watt, per build — competitors can’t copy. It’s earned from data they don’t have.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4487" y="-2624328"/>
            <a:ext cx="4517136" cy="451713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2103120"/>
            <a:ext cx="3474720" cy="34747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40035" y="-1668780"/>
            <a:ext cx="2606040" cy="26060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0134" y="-1338682"/>
            <a:ext cx="1945843" cy="1945843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5485" y="-1043330"/>
            <a:ext cx="1355141" cy="1355141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8715" y="-800100"/>
            <a:ext cx="868680" cy="8686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THIS GOES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faster framework to the </a:t>
            </a:r>
            <a:pPr indent="0" marL="0">
              <a:lnSpc>
                <a:spcPts val="3360"/>
              </a:lnSpc>
              <a:buNone/>
            </a:pPr>
            <a:r>
              <a:rPr lang="en-US" sz="3200" b="1" i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web’s substrate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2103120" cy="36576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48840"/>
            <a:ext cx="2103120" cy="73152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048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runtime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core, soundness engine &amp; near-zero client runtime — the fastest React you can write today.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07792" y="2148840"/>
            <a:ext cx="2103120" cy="36576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07792" y="2148840"/>
            <a:ext cx="2103120" cy="73152"/>
          </a:xfrm>
          <a:prstGeom prst="rect">
            <a:avLst/>
          </a:prstGeom>
          <a:solidFill>
            <a:srgbClr val="5FE3CE"/>
          </a:solidFill>
          <a:ln/>
        </p:spPr>
      </p:sp>
      <p:sp>
        <p:nvSpPr>
          <p:cNvPr id="17" name="Text 15"/>
          <p:cNvSpPr/>
          <p:nvPr/>
        </p:nvSpPr>
        <p:spPr>
          <a:xfrm>
            <a:off x="3136392" y="24048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136392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learning loop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136392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Fleet-scale policy that compounds: every app makes every other app faster.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75504" y="2148840"/>
            <a:ext cx="2103120" cy="36576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75504" y="2148840"/>
            <a:ext cx="2103120" cy="73152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22" name="Text 20"/>
          <p:cNvSpPr/>
          <p:nvPr/>
        </p:nvSpPr>
        <p:spPr>
          <a:xfrm>
            <a:off x="5404104" y="24048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04104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components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04104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on npm — ShadCN, your own, AI-generated — runs natively, optimally, untouched.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43216" y="2148840"/>
            <a:ext cx="2103120" cy="3657600"/>
          </a:xfrm>
          <a:prstGeom prst="rect">
            <a:avLst/>
          </a:prstGeom>
          <a:solidFill>
            <a:srgbClr val="161925"/>
          </a:solidFill>
          <a:ln w="12700">
            <a:solidFill>
              <a:srgbClr val="2A2F4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43216" y="2148840"/>
            <a:ext cx="2103120" cy="73152"/>
          </a:xfrm>
          <a:prstGeom prst="rect">
            <a:avLst/>
          </a:prstGeom>
          <a:solidFill>
            <a:srgbClr val="5FE3CE"/>
          </a:solidFill>
          <a:ln/>
        </p:spPr>
      </p:sp>
      <p:sp>
        <p:nvSpPr>
          <p:cNvPr id="27" name="Text 25"/>
          <p:cNvSpPr/>
          <p:nvPr/>
        </p:nvSpPr>
        <p:spPr>
          <a:xfrm>
            <a:off x="7671816" y="24048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E3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671816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Edge-native streaming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671816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wire format &amp; WebTransport: state streams to the edge, instantly, anywhere.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710928" y="2148840"/>
            <a:ext cx="2103120" cy="3657600"/>
          </a:xfrm>
          <a:prstGeom prst="rect">
            <a:avLst/>
          </a:prstGeom>
          <a:solidFill>
            <a:srgbClr val="0E1018"/>
          </a:solidFill>
          <a:ln w="17780">
            <a:solidFill>
              <a:srgbClr val="F6B5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710928" y="2148840"/>
            <a:ext cx="2103120" cy="73152"/>
          </a:xfrm>
          <a:prstGeom prst="rect">
            <a:avLst/>
          </a:prstGeom>
          <a:solidFill>
            <a:srgbClr val="FFD06B"/>
          </a:solidFill>
          <a:ln/>
        </p:spPr>
      </p:sp>
      <p:sp>
        <p:nvSpPr>
          <p:cNvPr id="32" name="Text 30"/>
          <p:cNvSpPr/>
          <p:nvPr/>
        </p:nvSpPr>
        <p:spPr>
          <a:xfrm>
            <a:off x="9939528" y="24048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939528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default for AI-built apps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9939528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machines write the web, AlB’DO is the substrate that makes it correct and fast — by construction.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59710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D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widens the market — and deepens a moat the data keeps refilling.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</a:t>
            </a:r>
            <a:pPr indent="0" marL="0">
              <a:buNone/>
            </a:pPr>
            <a:r>
              <a:rPr lang="en-US" sz="1000" b="1" spc="100" kern="0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</a:t>
            </a:r>
            <a:pPr indent="0" marL="0">
              <a:buNone/>
            </a:pPr>
            <a:r>
              <a:rPr lang="en-US" sz="1000" b="1" spc="100" kern="0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04288" y="4096512"/>
            <a:ext cx="5705856" cy="5705856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389120" cy="438912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303520"/>
            <a:ext cx="3291840" cy="329184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680314" y="5720486"/>
            <a:ext cx="2457907" cy="2457907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307238" y="6093562"/>
            <a:ext cx="1711757" cy="1711757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097280" cy="109728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91856" y="-1700784"/>
            <a:ext cx="5230368" cy="5230368"/>
          </a:xfrm>
          <a:prstGeom prst="ellipse">
            <a:avLst/>
          </a:prstGeom>
          <a:solidFill>
            <a:srgbClr val="F6B53D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-1097280"/>
            <a:ext cx="4023360" cy="4023360"/>
          </a:xfrm>
          <a:prstGeom prst="ellipse">
            <a:avLst/>
          </a:prstGeom>
          <a:solidFill>
            <a:srgbClr val="F6B53D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-594360"/>
            <a:ext cx="3017520" cy="3017520"/>
          </a:xfrm>
          <a:prstGeom prst="ellipse">
            <a:avLst/>
          </a:prstGeom>
          <a:solidFill>
            <a:srgbClr val="F6B53D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480499" y="-212141"/>
            <a:ext cx="2253082" cy="2253082"/>
          </a:xfrm>
          <a:prstGeom prst="ellipse">
            <a:avLst/>
          </a:prstGeom>
          <a:solidFill>
            <a:srgbClr val="F6B53D">
              <a:alpha val="3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22485" y="129845"/>
            <a:ext cx="1569110" cy="1569110"/>
          </a:xfrm>
          <a:prstGeom prst="ellipse">
            <a:avLst/>
          </a:prstGeom>
          <a:solidFill>
            <a:srgbClr val="F6B53D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04120" y="411480"/>
            <a:ext cx="1005840" cy="1005840"/>
          </a:xfrm>
          <a:prstGeom prst="ellipse">
            <a:avLst/>
          </a:prstGeom>
          <a:solidFill>
            <a:srgbClr val="FFD06B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828800"/>
            <a:ext cx="10911535" cy="0"/>
          </a:xfrm>
          <a:prstGeom prst="line">
            <a:avLst/>
          </a:prstGeom>
          <a:noFill/>
          <a:ln w="12700">
            <a:solidFill>
              <a:srgbClr val="2A2F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6B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WEB’S NEXT DEFAULT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21488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800"/>
              </a:lnSpc>
              <a:buNone/>
            </a:pPr>
            <a:r>
              <a:rPr lang="en-US" sz="76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less.
</a:t>
            </a:r>
            <a:pPr indent="0" marL="0">
              <a:lnSpc>
                <a:spcPts val="7800"/>
              </a:lnSpc>
              <a:buNone/>
            </a:pPr>
            <a:r>
              <a:rPr lang="en-US" sz="7600" b="1" dirty="0">
                <a:solidFill>
                  <a:srgbClr val="F6B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light.</a:t>
            </a:r>
            <a:endParaRPr lang="en-US" sz="76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AlB’DO turns ordinary React into the fastest, leanest, provably-correct web — and learns from every page it serves. The framework gets better while you sleep.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3840480" cy="640080"/>
          </a:xfrm>
          <a:prstGeom prst="rect">
            <a:avLst/>
          </a:prstGeom>
          <a:solidFill>
            <a:srgbClr val="F6B53D"/>
          </a:solidFill>
          <a:ln/>
          <a:effectLst>
            <a:outerShdw sx="100000" sy="100000" kx="0" ky="0" algn="bl" rotWithShape="0" blurRad="279400" dist="50800" dir="16200000">
              <a:srgbClr val="F6B53D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577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the substrate.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779008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79615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6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bishalsenpersonal@gmail.com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AlB'DO — Pitch</dc:title>
  <dc:subject>PptxGenJS Presentation</dc:subject>
  <dc:creator>AlB'DO</dc:creator>
  <cp:lastModifiedBy>AlB'DO</cp:lastModifiedBy>
  <cp:revision>1</cp:revision>
  <dcterms:created xsi:type="dcterms:W3CDTF">2026-06-21T17:54:34Z</dcterms:created>
  <dcterms:modified xsi:type="dcterms:W3CDTF">2026-06-21T17:54:34Z</dcterms:modified>
</cp:coreProperties>
</file>